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embeddedFontLst>
    <p:embeddedFont>
      <p:font typeface="Inter"/>
      <p:bold r:id="rId12"/>
    </p:embeddedFont>
    <p:embeddedFont>
      <p:font typeface="Plus Jakarta Sans"/>
      <p:bold r:id="rId1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4029075"/>
            <a:ext cx="10668000" cy="2257425"/>
          </a:xfrm>
          <a:prstGeom prst="roundRect">
            <a:avLst>
              <a:gd name="adj" fmla="val 6751"/>
            </a:avLst>
          </a:prstGeom>
          <a:solidFill>
            <a:srgbClr val="1B2538"/>
          </a:solidFill>
          <a:ln w="9525">
            <a:solidFill>
              <a:srgbClr val="272E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2000" y="571500"/>
            <a:ext cx="2733675" cy="295275"/>
          </a:xfrm>
          <a:prstGeom prst="roundRect">
            <a:avLst>
              <a:gd name="adj" fmla="val 50000"/>
            </a:avLst>
          </a:prstGeom>
          <a:solidFill>
            <a:srgbClr val="0F2C47"/>
          </a:solidFill>
          <a:ln w="9525">
            <a:solidFill>
              <a:srgbClr val="0F50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76325" y="4657725"/>
            <a:ext cx="3244750" cy="600075"/>
          </a:xfrm>
          <a:prstGeom prst="roundRect">
            <a:avLst>
              <a:gd name="adj" fmla="val 15873"/>
            </a:avLst>
          </a:prstGeom>
          <a:solidFill>
            <a:srgbClr val="263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473475" y="4657725"/>
            <a:ext cx="3244899" cy="600075"/>
          </a:xfrm>
          <a:prstGeom prst="roundRect">
            <a:avLst>
              <a:gd name="adj" fmla="val 15873"/>
            </a:avLst>
          </a:prstGeom>
          <a:solidFill>
            <a:srgbClr val="263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870775" y="4657725"/>
            <a:ext cx="3244750" cy="600075"/>
          </a:xfrm>
          <a:prstGeom prst="roundRect">
            <a:avLst>
              <a:gd name="adj" fmla="val 15873"/>
            </a:avLst>
          </a:prstGeom>
          <a:solidFill>
            <a:srgbClr val="263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76325" y="5410200"/>
            <a:ext cx="3244750" cy="600075"/>
          </a:xfrm>
          <a:prstGeom prst="roundRect">
            <a:avLst>
              <a:gd name="adj" fmla="val 15873"/>
            </a:avLst>
          </a:prstGeom>
          <a:solidFill>
            <a:srgbClr val="263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473475" y="5410200"/>
            <a:ext cx="3244899" cy="600075"/>
          </a:xfrm>
          <a:prstGeom prst="roundRect">
            <a:avLst>
              <a:gd name="adj" fmla="val 15873"/>
            </a:avLst>
          </a:prstGeom>
          <a:solidFill>
            <a:srgbClr val="263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76325" y="4657725"/>
            <a:ext cx="28575" cy="6000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73475" y="4657725"/>
            <a:ext cx="28575" cy="6000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870775" y="4657725"/>
            <a:ext cx="28575" cy="6000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76325" y="5410200"/>
            <a:ext cx="28575" cy="6000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73475" y="5410200"/>
            <a:ext cx="28575" cy="6000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25" y="4333875"/>
            <a:ext cx="200025" cy="1524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14400" y="628650"/>
            <a:ext cx="252412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Inter"/>
              </a:rPr>
              <a:t>DIGITAL HEALTHCARE 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1057275"/>
            <a:ext cx="11301412" cy="1139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sz="3900" b="1" i="0" u="none">
                <a:solidFill>
                  <a:srgbClr val="FFFFFF"/>
                </a:solidFill>
                <a:latin typeface="Plus Jakarta Sans"/>
              </a:rPr>
              <a:t>Doctor Appointment</a:t>
            </a:r>
            <a:r>
              <a:t>
</a:t>
            </a:r>
            <a:r>
              <a:rPr sz="3900" b="1" i="0" u="none">
                <a:solidFill>
                  <a:srgbClr val="38BDF8"/>
                </a:solidFill>
                <a:latin typeface="Plus Jakarta Sans"/>
              </a:rPr>
              <a:t>Booking System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2348805"/>
            <a:ext cx="62865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94A3B8"/>
                </a:solidFill>
                <a:latin typeface="Inter"/>
              </a:rPr>
              <a:t>Streamlining Patient Access, Provider Scheduling, and Healthcare Operations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6325" y="4305300"/>
            <a:ext cx="11115675" cy="200025"/>
          </a:xfrm>
          <a:prstGeom prst="rect">
            <a:avLst/>
          </a:prstGeom>
          <a:noFill/>
        </p:spPr>
        <p:txBody>
          <a:bodyPr wrap="none" lIns="276225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Plus Jakarta Sans"/>
              </a:rPr>
              <a:t>PROJECT TEAM MEMBERS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57300" y="4772025"/>
            <a:ext cx="1453924" cy="34701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125" b="1" i="0" u="none" dirty="0">
                <a:solidFill>
                  <a:srgbClr val="F8FAFC"/>
                </a:solidFill>
                <a:latin typeface="Inter"/>
              </a:rPr>
              <a:t>MENDU</a:t>
            </a:r>
            <a:r>
              <a:rPr lang="en-US" sz="1125" b="1" i="0" u="none" dirty="0">
                <a:solidFill>
                  <a:srgbClr val="F8FAFC"/>
                </a:solidFill>
                <a:latin typeface="Inter"/>
              </a:rPr>
              <a:t> JAS</a:t>
            </a:r>
            <a:r>
              <a:rPr lang="en-IN" sz="1130" b="1" dirty="0">
                <a:solidFill>
                  <a:schemeClr val="bg1"/>
                </a:solidFill>
                <a:latin typeface="Inter"/>
              </a:rPr>
              <a:t>WANTH SAI </a:t>
            </a:r>
          </a:p>
          <a:p>
            <a:pPr algn="l"/>
            <a:endParaRPr sz="1125" b="1" i="0" u="none" dirty="0">
              <a:solidFill>
                <a:srgbClr val="F8FAFC"/>
              </a:solidFill>
              <a:latin typeface="Inter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257300" y="4991100"/>
            <a:ext cx="3639219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8BDF8"/>
                </a:solidFill>
                <a:latin typeface="monospace"/>
              </a:rPr>
              <a:t>25MVICBR0033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54450" y="4772025"/>
            <a:ext cx="363940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8FAFC"/>
                </a:solidFill>
                <a:latin typeface="Inter"/>
              </a:rPr>
              <a:t>SOBHANALA UDAYKIRAN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54450" y="4991100"/>
            <a:ext cx="363940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8BDF8"/>
                </a:solidFill>
                <a:latin typeface="monospace"/>
              </a:rPr>
              <a:t>25MVICBR0051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51750" y="4772025"/>
            <a:ext cx="3639219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8FAFC"/>
                </a:solidFill>
                <a:latin typeface="Inter"/>
              </a:rPr>
              <a:t>ADDALA MOHITHA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51750" y="4991100"/>
            <a:ext cx="3639219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8BDF8"/>
                </a:solidFill>
                <a:latin typeface="monospace"/>
              </a:rPr>
              <a:t>25MVICBR0001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57300" y="5524500"/>
            <a:ext cx="3639219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8FAFC"/>
                </a:solidFill>
                <a:latin typeface="Inter"/>
              </a:rPr>
              <a:t>KOTHAPALLI PRAVEEN KUMAR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57300" y="5743575"/>
            <a:ext cx="3639219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8BDF8"/>
                </a:solidFill>
                <a:latin typeface="monospace"/>
              </a:rPr>
              <a:t>25MVICBR0023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54450" y="5524500"/>
            <a:ext cx="363940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8FAFC"/>
                </a:solidFill>
                <a:latin typeface="Inter"/>
              </a:rPr>
              <a:t>ANKITHA RAO SAINENI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54450" y="5743575"/>
            <a:ext cx="363940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8BDF8"/>
                </a:solidFill>
                <a:latin typeface="monospace"/>
              </a:rPr>
              <a:t>25MVICBR0045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543050"/>
            <a:ext cx="5334000" cy="4781550"/>
          </a:xfrm>
          <a:prstGeom prst="roundRect">
            <a:avLst>
              <a:gd name="adj" fmla="val 3187"/>
            </a:avLst>
          </a:prstGeom>
          <a:solidFill>
            <a:srgbClr val="FF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1543050"/>
            <a:ext cx="5334000" cy="4781550"/>
          </a:xfrm>
          <a:prstGeom prst="roundRect">
            <a:avLst>
              <a:gd name="adj" fmla="val 3187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47850"/>
            <a:ext cx="381000" cy="381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200" y="1847850"/>
            <a:ext cx="381000" cy="381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9650" y="1943100"/>
            <a:ext cx="190500" cy="190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8450" y="1943100"/>
            <a:ext cx="190500" cy="190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2452687"/>
            <a:ext cx="123825" cy="1809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3005137"/>
            <a:ext cx="123825" cy="1809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3557587"/>
            <a:ext cx="123825" cy="1809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3200" y="2452687"/>
            <a:ext cx="152400" cy="1809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3200" y="3005137"/>
            <a:ext cx="152400" cy="1809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3200" y="3557587"/>
            <a:ext cx="152400" cy="1809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INDUSTRY NEED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771525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Transforming Patient Access &amp; Scheduling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09700" y="1905000"/>
            <a:ext cx="3087885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9F1239"/>
                </a:solidFill>
                <a:latin typeface="Plus Jakarta Sans"/>
              </a:rPr>
              <a:t>Traditional Bottlenecks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475" y="2419350"/>
            <a:ext cx="460057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E11D48"/>
                </a:solidFill>
                <a:latin typeface="Inter"/>
              </a:rPr>
              <a:t>Long Phone Holds: High wait times for manual reception bookings.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475" y="2971800"/>
            <a:ext cx="460057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E11D48"/>
                </a:solidFill>
                <a:latin typeface="Inter"/>
              </a:rPr>
              <a:t>High No-Show Rates: Lack of automated reminders leads to lost revenue.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475" y="3524250"/>
            <a:ext cx="460057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E11D48"/>
                </a:solidFill>
                <a:latin typeface="Inter"/>
              </a:rPr>
              <a:t>OPD Congestion: Unmanaged walk-in queues and crowding.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8500" y="1905000"/>
            <a:ext cx="2037754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4532D"/>
                </a:solidFill>
                <a:latin typeface="Plus Jakarta Sans"/>
              </a:rPr>
              <a:t>Digital Solution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00850" y="2419350"/>
            <a:ext cx="45720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6A34A"/>
                </a:solidFill>
                <a:latin typeface="Inter"/>
              </a:rPr>
              <a:t>24/7 Self-Booking: Instant slot reservation anytime, anywhere.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00850" y="2971800"/>
            <a:ext cx="45720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6A34A"/>
                </a:solidFill>
                <a:latin typeface="Inter"/>
              </a:rPr>
              <a:t>Automated Alerts: Multi-channel SMS and WhatsApp notifications.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00850" y="3524250"/>
            <a:ext cx="45720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6A34A"/>
                </a:solidFill>
                <a:latin typeface="Inter"/>
              </a:rPr>
              <a:t>Smart Queue Tokens: Real-time doctor availability and token tracking.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662237"/>
            <a:ext cx="2571750" cy="2543175"/>
          </a:xfrm>
          <a:prstGeom prst="roundRect">
            <a:avLst>
              <a:gd name="adj" fmla="val 599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09950" y="2662237"/>
            <a:ext cx="2571750" cy="2543175"/>
          </a:xfrm>
          <a:prstGeom prst="roundRect">
            <a:avLst>
              <a:gd name="adj" fmla="val 599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10300" y="2662237"/>
            <a:ext cx="2571750" cy="2543175"/>
          </a:xfrm>
          <a:prstGeom prst="roundRect">
            <a:avLst>
              <a:gd name="adj" fmla="val 599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010650" y="2662237"/>
            <a:ext cx="2571750" cy="2543175"/>
          </a:xfrm>
          <a:prstGeom prst="roundRect">
            <a:avLst>
              <a:gd name="adj" fmla="val 599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2976562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8075" y="2976562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8425" y="2976562"/>
            <a:ext cx="457200" cy="4572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48775" y="2976562"/>
            <a:ext cx="457200" cy="4572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5837" y="3100387"/>
            <a:ext cx="180975" cy="2095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86187" y="3100387"/>
            <a:ext cx="180975" cy="2095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6537" y="3100387"/>
            <a:ext cx="180975" cy="2095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58312" y="3100387"/>
            <a:ext cx="238125" cy="2095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CORE PLATFORM CAPABILITIES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771525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Key System Features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725" y="3624262"/>
            <a:ext cx="2750343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Doctor Directory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725" y="3976687"/>
            <a:ext cx="21907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64748B"/>
                </a:solidFill>
                <a:latin typeface="Inter"/>
              </a:rPr>
              <a:t>Search providers by specialty, experience, rating, and geographic location.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48075" y="3624262"/>
            <a:ext cx="2750343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Real-Time Slots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48075" y="3976687"/>
            <a:ext cx="219075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64748B"/>
                </a:solidFill>
                <a:latin typeface="Inter"/>
              </a:rPr>
              <a:t>Dynamic slot allocation preventing double booking and optimizing schedule density.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8425" y="3624262"/>
            <a:ext cx="2750343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Smart Alerts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8425" y="3976687"/>
            <a:ext cx="219075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64748B"/>
                </a:solidFill>
                <a:latin typeface="Inter"/>
              </a:rPr>
              <a:t>Automated confirmation messages and reminder notifications before appointments.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48775" y="3624262"/>
            <a:ext cx="2750343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Telehealth Sync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48775" y="3976687"/>
            <a:ext cx="21907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64748B"/>
                </a:solidFill>
                <a:latin typeface="Inter"/>
              </a:rPr>
              <a:t>Seamless integration with secure video calls for virtual consultations.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805041" y="2733675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805041" y="3371850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805041" y="4010025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805041" y="4648200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105025"/>
            <a:ext cx="4814441" cy="3619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END-TO-END JOURNEY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71525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Patient Booking Workflow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2166" y="2733675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2166" y="3371850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2166" y="4010025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2166" y="4648200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0341" y="2733675"/>
            <a:ext cx="586323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Search &amp; Selection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341" y="2990850"/>
            <a:ext cx="5584031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Inter"/>
              </a:rPr>
              <a:t>Filter doctors by specialty, ratings, location, and fee structure.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0341" y="3371850"/>
            <a:ext cx="588823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Slot Selection &amp; Payment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0341" y="3629025"/>
            <a:ext cx="5607843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Inter"/>
              </a:rPr>
              <a:t>Pick preferred date/time slot and complete digital intake form.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0341" y="4010025"/>
            <a:ext cx="589165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Confirmation &amp; Reminders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0341" y="4267200"/>
            <a:ext cx="5845968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Inter"/>
              </a:rPr>
              <a:t>Receive digital token, calendar event, and automated SMS alerts.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341" y="4648200"/>
            <a:ext cx="589165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Consultation &amp; E-Prescription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0341" y="4905375"/>
            <a:ext cx="5891658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Inter"/>
              </a:rPr>
              <a:t>Attend clinic/telehealth visit and receive digital consultation summary.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995487"/>
            <a:ext cx="5061793" cy="1152525"/>
          </a:xfrm>
          <a:prstGeom prst="roundRect">
            <a:avLst>
              <a:gd name="adj" fmla="val 1157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338512"/>
            <a:ext cx="5061793" cy="1152525"/>
          </a:xfrm>
          <a:prstGeom prst="roundRect">
            <a:avLst>
              <a:gd name="adj" fmla="val 1157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4681537"/>
            <a:ext cx="5061793" cy="1152525"/>
          </a:xfrm>
          <a:prstGeom prst="roundRect">
            <a:avLst>
              <a:gd name="adj" fmla="val 1157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1995487"/>
            <a:ext cx="38100" cy="11525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" y="3338512"/>
            <a:ext cx="38100" cy="11525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9600" y="4681537"/>
            <a:ext cx="38100" cy="11525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4293" y="2105025"/>
            <a:ext cx="5568106" cy="3619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CLINICAL OPERATIONAL VALUE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771525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Elevating In-Clinic Experience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2224087"/>
            <a:ext cx="5993522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Zero Wait-Time Anxiety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2538412"/>
            <a:ext cx="4661743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Inter"/>
              </a:rPr>
              <a:t>Live token tracking informs patients of current doctor queue status.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300" y="3567112"/>
            <a:ext cx="5993522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Pre-Visit Digital Intake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6300" y="3881437"/>
            <a:ext cx="4661743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Inter"/>
              </a:rPr>
              <a:t>Medical history uploaded before arrival, saving clinic registration time.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6300" y="4910137"/>
            <a:ext cx="5993522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Seamless Follow-ups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6300" y="5224462"/>
            <a:ext cx="4661743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Inter"/>
              </a:rPr>
              <a:t>One-click rebooking and lab test scheduling right from consultation room.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520606" y="2166937"/>
            <a:ext cx="5061793" cy="1038225"/>
          </a:xfrm>
          <a:prstGeom prst="roundRect">
            <a:avLst>
              <a:gd name="adj" fmla="val 1100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520606" y="3395662"/>
            <a:ext cx="5061793" cy="1038225"/>
          </a:xfrm>
          <a:prstGeom prst="roundRect">
            <a:avLst>
              <a:gd name="adj" fmla="val 1100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520606" y="4624387"/>
            <a:ext cx="5061793" cy="1038225"/>
          </a:xfrm>
          <a:prstGeom prst="roundRect">
            <a:avLst>
              <a:gd name="adj" fmla="val 1100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105025"/>
            <a:ext cx="5568106" cy="3619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1106" y="2395537"/>
            <a:ext cx="171450" cy="1714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1106" y="3624262"/>
            <a:ext cx="171450" cy="1714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1106" y="4852987"/>
            <a:ext cx="190500" cy="1714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ADMINISTRATIVE 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771525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Provider Management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11106" y="2357437"/>
            <a:ext cx="5480893" cy="219075"/>
          </a:xfrm>
          <a:prstGeom prst="rect">
            <a:avLst/>
          </a:prstGeom>
          <a:noFill/>
        </p:spPr>
        <p:txBody>
          <a:bodyPr wrap="none" lIns="2476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Dynamic Availability 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11106" y="2633662"/>
            <a:ext cx="4776043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Inter"/>
              </a:rPr>
              <a:t>Instant leave management, emergency slot overrides, and break rules.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11106" y="3586162"/>
            <a:ext cx="5480893" cy="219075"/>
          </a:xfrm>
          <a:prstGeom prst="rect">
            <a:avLst/>
          </a:prstGeom>
          <a:noFill/>
        </p:spPr>
        <p:txBody>
          <a:bodyPr wrap="none" lIns="2476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Utilization Analytics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11106" y="3862387"/>
            <a:ext cx="4776043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Inter"/>
              </a:rPr>
              <a:t>Real-time reporting on peak booking hours, cancellation causes, and revenue.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11106" y="4814887"/>
            <a:ext cx="5480893" cy="219075"/>
          </a:xfrm>
          <a:prstGeom prst="rect">
            <a:avLst/>
          </a:prstGeom>
          <a:noFill/>
        </p:spPr>
        <p:txBody>
          <a:bodyPr wrap="none" lIns="26670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Multi-Location Support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11106" y="5091112"/>
            <a:ext cx="4776043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Inter"/>
              </a:rPr>
              <a:t>Manage multiple clinic branches and doctor rotations in a single portal.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909887"/>
            <a:ext cx="3454449" cy="2162175"/>
          </a:xfrm>
          <a:prstGeom prst="roundRect">
            <a:avLst>
              <a:gd name="adj" fmla="val 881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68849" y="2909887"/>
            <a:ext cx="3454449" cy="2162175"/>
          </a:xfrm>
          <a:prstGeom prst="roundRect">
            <a:avLst>
              <a:gd name="adj" fmla="val 881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128099" y="2909887"/>
            <a:ext cx="3454449" cy="2162175"/>
          </a:xfrm>
          <a:prstGeom prst="roundRect">
            <a:avLst>
              <a:gd name="adj" fmla="val 881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MEASURABLE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71525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Quantifiable Healthcare Impact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50" y="3300412"/>
            <a:ext cx="3722749" cy="609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sz="4800" b="1" i="0" u="none">
                <a:solidFill>
                  <a:srgbClr val="0284C7"/>
                </a:solidFill>
                <a:latin typeface="Inter"/>
              </a:rPr>
              <a:t>35%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2381" y="4024312"/>
            <a:ext cx="390888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Plus Jakarta Sans"/>
              </a:rPr>
              <a:t>Reduction in No-Shows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50" y="4319587"/>
            <a:ext cx="3722749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64748B"/>
                </a:solidFill>
                <a:latin typeface="Inter"/>
              </a:rPr>
              <a:t>Driven by automated SMS and WhatsApp reminders.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34699" y="3300412"/>
            <a:ext cx="3722749" cy="609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sz="4800" b="1" i="0" u="none">
                <a:solidFill>
                  <a:srgbClr val="0284C7"/>
                </a:solidFill>
                <a:latin typeface="Inter"/>
              </a:rPr>
              <a:t>40%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41630" y="4024312"/>
            <a:ext cx="390888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Plus Jakarta Sans"/>
              </a:rPr>
              <a:t>Lower Admin Workload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34699" y="4319587"/>
            <a:ext cx="3722749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64748B"/>
                </a:solidFill>
                <a:latin typeface="Inter"/>
              </a:rPr>
              <a:t>Automated scheduling frees front-desk staff efficiency.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93949" y="3300412"/>
            <a:ext cx="3722749" cy="609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sz="4800" b="1" i="0" u="none">
                <a:solidFill>
                  <a:srgbClr val="0284C7"/>
                </a:solidFill>
                <a:latin typeface="Inter"/>
              </a:rPr>
              <a:t>24/7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0880" y="4024312"/>
            <a:ext cx="390888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Plus Jakarta Sans"/>
              </a:rPr>
              <a:t>Patient Access Flexibility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93949" y="4319587"/>
            <a:ext cx="3722749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64748B"/>
                </a:solidFill>
                <a:latin typeface="Inter"/>
              </a:rPr>
              <a:t>Over 60% of bookings made outside clinic working hours.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995487"/>
            <a:ext cx="5295900" cy="1152525"/>
          </a:xfrm>
          <a:prstGeom prst="roundRect">
            <a:avLst>
              <a:gd name="adj" fmla="val 11570"/>
            </a:avLst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338512"/>
            <a:ext cx="5295900" cy="1152525"/>
          </a:xfrm>
          <a:prstGeom prst="roundRect">
            <a:avLst>
              <a:gd name="adj" fmla="val 11570"/>
            </a:avLst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4681537"/>
            <a:ext cx="5295900" cy="1152525"/>
          </a:xfrm>
          <a:prstGeom prst="roundRect">
            <a:avLst>
              <a:gd name="adj" fmla="val 11570"/>
            </a:avLst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1995487"/>
            <a:ext cx="38100" cy="11525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" y="3338512"/>
            <a:ext cx="38100" cy="11525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9600" y="4681537"/>
            <a:ext cx="38100" cy="11525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0" y="2105025"/>
            <a:ext cx="5295900" cy="3619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00" y="2262187"/>
            <a:ext cx="190500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300" y="3605212"/>
            <a:ext cx="171450" cy="190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300" y="4948237"/>
            <a:ext cx="190500" cy="1905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TRUST &amp; COMPLIANCE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771525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Security &amp; Compliance Framework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6300" y="2224087"/>
            <a:ext cx="6300787" cy="238125"/>
          </a:xfrm>
          <a:prstGeom prst="rect">
            <a:avLst/>
          </a:prstGeom>
          <a:noFill/>
        </p:spPr>
        <p:txBody>
          <a:bodyPr wrap="none" lIns="26670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369A1"/>
                </a:solidFill>
                <a:latin typeface="Plus Jakarta Sans"/>
              </a:rPr>
              <a:t>HIPAA &amp; Data Privacy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6300" y="2538412"/>
            <a:ext cx="489585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34155"/>
                </a:solidFill>
                <a:latin typeface="Inter"/>
              </a:rPr>
              <a:t>Full alignment with healthcare privacy standards and encrypted record storage.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6300" y="3567112"/>
            <a:ext cx="6300787" cy="238125"/>
          </a:xfrm>
          <a:prstGeom prst="rect">
            <a:avLst/>
          </a:prstGeom>
          <a:noFill/>
        </p:spPr>
        <p:txBody>
          <a:bodyPr wrap="none" lIns="24765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369A1"/>
                </a:solidFill>
                <a:latin typeface="Plus Jakarta Sans"/>
              </a:rPr>
              <a:t>End-to-End Encryption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6300" y="3881437"/>
            <a:ext cx="489585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34155"/>
                </a:solidFill>
                <a:latin typeface="Inter"/>
              </a:rPr>
              <a:t>AES-256 bit data encryption in transit and at rest for patient records.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6300" y="4910137"/>
            <a:ext cx="6300787" cy="238125"/>
          </a:xfrm>
          <a:prstGeom prst="rect">
            <a:avLst/>
          </a:prstGeom>
          <a:noFill/>
        </p:spPr>
        <p:txBody>
          <a:bodyPr wrap="none" lIns="26670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369A1"/>
                </a:solidFill>
                <a:latin typeface="Plus Jakarta Sans"/>
              </a:rPr>
              <a:t>Role-Based Access Control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6300" y="5224462"/>
            <a:ext cx="489585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34155"/>
                </a:solidFill>
                <a:latin typeface="Inter"/>
              </a:rPr>
              <a:t>Strict permission levels for patients, front desk, and medical personnel.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024062"/>
            <a:ext cx="5372100" cy="1314450"/>
          </a:xfrm>
          <a:prstGeom prst="roundRect">
            <a:avLst>
              <a:gd name="adj" fmla="val 1159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10300" y="2024062"/>
            <a:ext cx="5372100" cy="1314450"/>
          </a:xfrm>
          <a:prstGeom prst="roundRect">
            <a:avLst>
              <a:gd name="adj" fmla="val 1159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4529137"/>
            <a:ext cx="5372100" cy="1314450"/>
          </a:xfrm>
          <a:prstGeom prst="roundRect">
            <a:avLst>
              <a:gd name="adj" fmla="val 1159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10300" y="4529137"/>
            <a:ext cx="5372100" cy="1314450"/>
          </a:xfrm>
          <a:prstGeom prst="roundRect">
            <a:avLst>
              <a:gd name="adj" fmla="val 1159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2300287"/>
            <a:ext cx="304800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6525" y="2300287"/>
            <a:ext cx="266700" cy="2667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825" y="4805362"/>
            <a:ext cx="200025" cy="2667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6525" y="4805362"/>
            <a:ext cx="333375" cy="2667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SYSTEM 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71525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Technology &amp; Integrations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825" y="2681287"/>
            <a:ext cx="49149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Inter"/>
              </a:rPr>
              <a:t>Responsive React / Web &amp; Mobile applications for cross-platform booking convenience.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6525" y="2681287"/>
            <a:ext cx="49149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Inter"/>
              </a:rPr>
              <a:t>Node.js / Python microservices paired with encrypted PostgreSQL database.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5825" y="5186362"/>
            <a:ext cx="49149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Inter"/>
              </a:rPr>
              <a:t>HL7 / FHIR standard API sync with hospital medical records and billing systems.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6525" y="5186362"/>
            <a:ext cx="49149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Inter"/>
              </a:rPr>
              <a:t>Twilio &amp; WhatsApp Business API integration for instant notification dispatch.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43025" y="2314575"/>
            <a:ext cx="1875234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Frontend Portal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5625" y="2314575"/>
            <a:ext cx="2562820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Backend &amp; Database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8250" y="4819650"/>
            <a:ext cx="2662832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EHR / EMR Integration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72300" y="4819650"/>
            <a:ext cx="2612826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Messaging Gateways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833937" y="4436715"/>
            <a:ext cx="2524125" cy="447675"/>
          </a:xfrm>
          <a:prstGeom prst="roundRect">
            <a:avLst>
              <a:gd name="adj" fmla="val 50000"/>
            </a:avLst>
          </a:prstGeom>
          <a:solidFill>
            <a:srgbClr val="1B2335"/>
          </a:solidFill>
          <a:ln w="9525">
            <a:solidFill>
              <a:srgbClr val="272E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0" y="1973609"/>
            <a:ext cx="609600" cy="609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9312" y="2145059"/>
            <a:ext cx="333375" cy="2667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489549" y="2811809"/>
            <a:ext cx="3212901" cy="581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600" b="1" i="0" u="none">
                <a:solidFill>
                  <a:srgbClr val="FFFFFF"/>
                </a:solidFill>
                <a:latin typeface="Plus Jakarta Sans"/>
              </a:rP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3545234"/>
            <a:ext cx="7620000" cy="586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310"/>
              </a:lnSpc>
            </a:pPr>
            <a:r>
              <a:rPr sz="1650" b="0" i="0" u="none">
                <a:solidFill>
                  <a:srgbClr val="94A3B8"/>
                </a:solidFill>
                <a:latin typeface="Inter"/>
              </a:rPr>
              <a:t>Revolutionizing patient care access through modern, efficient, and secure scheduling technology.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85121" y="4551015"/>
            <a:ext cx="2621756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38BDF8"/>
                </a:solidFill>
                <a:latin typeface="Inter"/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521</Words>
  <Application>Microsoft Office PowerPoint</Application>
  <PresentationFormat>Widescreen</PresentationFormat>
  <Paragraphs>96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Calibri</vt:lpstr>
      <vt:lpstr>Plus Jakarta Sans</vt:lpstr>
      <vt:lpstr>monospace</vt:lpstr>
      <vt:lpstr>Arial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Jaswanth Mendu</cp:lastModifiedBy>
  <cp:revision>2</cp:revision>
  <dcterms:created xsi:type="dcterms:W3CDTF">2013-01-27T09:14:16Z</dcterms:created>
  <dcterms:modified xsi:type="dcterms:W3CDTF">2026-10-10T03:03:36Z</dcterms:modified>
  <cp:category/>
</cp:coreProperties>
</file>